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2" d="100"/>
          <a:sy n="82" d="100"/>
        </p:scale>
        <p:origin x="691" y="1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TextBox 1"/>
          <p:cNvSpPr txBox="1"/>
          <p:nvPr/>
        </p:nvSpPr>
        <p:spPr>
          <a:xfrm>
            <a:off x="914400" y="1645920"/>
            <a:ext cx="10360152" cy="2492990"/>
          </a:xfrm>
          <a:prstGeom prst="rect">
            <a:avLst/>
          </a:prstGeom>
          <a:noFill/>
        </p:spPr>
        <p:txBody>
          <a:bodyPr wrap="square">
            <a:spAutoFit/>
          </a:bodyPr>
          <a:lstStyle/>
          <a:p>
            <a:pPr algn="ctr">
              <a:defRPr sz="1200" b="1">
                <a:solidFill>
                  <a:srgbClr val="3B82F6"/>
                </a:solidFill>
                <a:latin typeface="Arial"/>
              </a:defRPr>
            </a:pPr>
            <a:r>
              <a:rPr dirty="0"/>
              <a:t>CAPSTONE DEFENCE PRESENTATION</a:t>
            </a:r>
          </a:p>
          <a:p>
            <a:pPr algn="ctr"/>
            <a:br>
              <a:rPr sz="2800" b="1" dirty="0">
                <a:solidFill>
                  <a:schemeClr val="bg1"/>
                </a:solidFill>
              </a:rPr>
            </a:br>
            <a:r>
              <a:rPr sz="2800" b="1" dirty="0">
                <a:solidFill>
                  <a:schemeClr val="bg1"/>
                </a:solidFill>
              </a:rPr>
              <a:t>AN AUTOMATED DATA ACQUISITION AND</a:t>
            </a:r>
            <a:br>
              <a:rPr sz="2800" b="1" dirty="0">
                <a:solidFill>
                  <a:schemeClr val="bg1"/>
                </a:solidFill>
              </a:rPr>
            </a:br>
            <a:r>
              <a:rPr sz="2800" b="1" dirty="0">
                <a:solidFill>
                  <a:schemeClr val="bg1"/>
                </a:solidFill>
              </a:rPr>
              <a:t>MACHINE LEARNING MODEL GENERATION SYSTEM</a:t>
            </a:r>
          </a:p>
          <a:p>
            <a:br>
              <a:rPr dirty="0"/>
            </a:br>
            <a:r>
              <a:rPr dirty="0"/>
              <a:t>Presented by: Benson Musonda (Student ID: 202204757)</a:t>
            </a:r>
          </a:p>
          <a:p>
            <a:pPr algn="ctr">
              <a:defRPr sz="1300">
                <a:solidFill>
                  <a:srgbClr val="A1A1AA"/>
                </a:solidFill>
                <a:latin typeface="Arial"/>
              </a:defRPr>
            </a:pPr>
            <a:r>
              <a:rPr sz="2400" b="1" dirty="0"/>
              <a:t>Supervisor: Dr. </a:t>
            </a:r>
            <a:r>
              <a:rPr sz="2400" b="1" dirty="0" err="1"/>
              <a:t>Sinyinda</a:t>
            </a:r>
            <a:r>
              <a:rPr sz="2400" b="1" dirty="0"/>
              <a:t> </a:t>
            </a:r>
            <a:r>
              <a:rPr sz="2400" b="1" dirty="0" err="1"/>
              <a:t>Muwanei</a:t>
            </a:r>
            <a:endParaRPr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BACKGROUND CONTEXT</a:t>
            </a:r>
          </a:p>
        </p:txBody>
      </p:sp>
      <p:sp>
        <p:nvSpPr>
          <p:cNvPr id="3" name="TextBox 2"/>
          <p:cNvSpPr txBox="1"/>
          <p:nvPr/>
        </p:nvSpPr>
        <p:spPr>
          <a:xfrm>
            <a:off x="731520" y="640080"/>
            <a:ext cx="10698480" cy="731520"/>
          </a:xfrm>
          <a:prstGeom prst="rect">
            <a:avLst/>
          </a:prstGeom>
          <a:noFill/>
        </p:spPr>
        <p:txBody>
          <a:bodyPr wrap="square">
            <a:spAutoFit/>
          </a:bodyPr>
          <a:lstStyle/>
          <a:p>
            <a:pPr>
              <a:defRPr sz="3200" b="1">
                <a:solidFill>
                  <a:srgbClr val="F4F4F5"/>
                </a:solidFill>
                <a:latin typeface="Arial"/>
              </a:defRPr>
            </a:pPr>
            <a:r>
              <a:t>Introduction</a:t>
            </a:r>
          </a:p>
        </p:txBody>
      </p:sp>
      <p:sp>
        <p:nvSpPr>
          <p:cNvPr id="4" name="Rectangle 3"/>
          <p:cNvSpPr/>
          <p:nvPr/>
        </p:nvSpPr>
        <p:spPr>
          <a:xfrm>
            <a:off x="731520" y="1645920"/>
            <a:ext cx="10698480" cy="1463040"/>
          </a:xfrm>
          <a:prstGeom prst="rect">
            <a:avLst/>
          </a:prstGeom>
          <a:solidFill>
            <a:srgbClr val="18181B"/>
          </a:solidFill>
          <a:ln w="38100">
            <a:solidFill>
              <a:srgbClr val="3B82F6"/>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defRPr sz="1600">
                <a:solidFill>
                  <a:srgbClr val="F4F4F5"/>
                </a:solidFill>
                <a:latin typeface="Arial"/>
              </a:defRPr>
            </a:pPr>
            <a:r>
              <a:rPr dirty="0"/>
              <a:t>"Central to any effective machine learning application is the quality and availability of its training data. Furthermore, for these models to be truly valuable and trustworthy, their entire development lifecycle must be fully reproducible."</a:t>
            </a:r>
          </a:p>
        </p:txBody>
      </p:sp>
      <p:sp>
        <p:nvSpPr>
          <p:cNvPr id="5" name="TextBox 4"/>
          <p:cNvSpPr txBox="1"/>
          <p:nvPr/>
        </p:nvSpPr>
        <p:spPr>
          <a:xfrm>
            <a:off x="731520" y="3383280"/>
            <a:ext cx="10698480" cy="1969770"/>
          </a:xfrm>
          <a:prstGeom prst="rect">
            <a:avLst/>
          </a:prstGeom>
          <a:noFill/>
        </p:spPr>
        <p:txBody>
          <a:bodyPr wrap="square">
            <a:spAutoFit/>
          </a:bodyPr>
          <a:lstStyle/>
          <a:p>
            <a:pPr>
              <a:defRPr sz="1600">
                <a:solidFill>
                  <a:srgbClr val="A1A1AA"/>
                </a:solidFill>
                <a:latin typeface="Arial"/>
              </a:defRPr>
            </a:pPr>
            <a:r>
              <a:rPr dirty="0">
                <a:solidFill>
                  <a:schemeClr val="bg1"/>
                </a:solidFill>
              </a:rPr>
              <a:t>The Automated Data Acquisition and Machine Learning Model Generation System addresses a significant challenge: bridging the gap between disparate data collection and AI model development tools.</a:t>
            </a:r>
          </a:p>
          <a:p>
            <a:br>
              <a:rPr dirty="0">
                <a:solidFill>
                  <a:schemeClr val="bg1"/>
                </a:solidFill>
              </a:rPr>
            </a:br>
            <a:r>
              <a:rPr dirty="0">
                <a:solidFill>
                  <a:schemeClr val="bg1"/>
                </a:solidFill>
              </a:rPr>
              <a:t>Many domain experts struggle to leverage powerful web data acquisition or advanced machine learning due to technical complexities. This system provides a unified, user-friendly platform that seamlessly integrates data ingestion from diverse sources (including robust web scraping) with adaptive data preprocessing and advanced text feature engineering, leading to automated, yet customizable, machine learning model generation.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THE CHALLENGE</a:t>
            </a:r>
          </a:p>
        </p:txBody>
      </p:sp>
      <p:sp>
        <p:nvSpPr>
          <p:cNvPr id="3" name="TextBox 2"/>
          <p:cNvSpPr txBox="1"/>
          <p:nvPr/>
        </p:nvSpPr>
        <p:spPr>
          <a:xfrm>
            <a:off x="731520" y="640080"/>
            <a:ext cx="10698480" cy="731520"/>
          </a:xfrm>
          <a:prstGeom prst="rect">
            <a:avLst/>
          </a:prstGeom>
          <a:noFill/>
        </p:spPr>
        <p:txBody>
          <a:bodyPr wrap="square">
            <a:spAutoFit/>
          </a:bodyPr>
          <a:lstStyle/>
          <a:p>
            <a:pPr>
              <a:defRPr sz="3200" b="1">
                <a:solidFill>
                  <a:srgbClr val="F4F4F5"/>
                </a:solidFill>
                <a:latin typeface="Arial"/>
              </a:defRPr>
            </a:pPr>
            <a:r>
              <a:t>Problem Statement</a:t>
            </a:r>
          </a:p>
        </p:txBody>
      </p:sp>
      <p:sp>
        <p:nvSpPr>
          <p:cNvPr id="4" name="TextBox 3"/>
          <p:cNvSpPr txBox="1"/>
          <p:nvPr/>
        </p:nvSpPr>
        <p:spPr>
          <a:xfrm>
            <a:off x="731520" y="1463040"/>
            <a:ext cx="10698480" cy="914400"/>
          </a:xfrm>
          <a:prstGeom prst="rect">
            <a:avLst/>
          </a:prstGeom>
          <a:noFill/>
        </p:spPr>
        <p:txBody>
          <a:bodyPr wrap="square">
            <a:spAutoFit/>
          </a:bodyPr>
          <a:lstStyle/>
          <a:p>
            <a:pPr>
              <a:defRPr sz="1600">
                <a:solidFill>
                  <a:srgbClr val="A1A1AA"/>
                </a:solidFill>
                <a:latin typeface="Arial"/>
              </a:defRPr>
            </a:pPr>
            <a:r>
              <a:t>The journey from raw data to a deployable machine learning model is often complex, fragmented, and technically demanding, creating barriers for domain experts:</a:t>
            </a:r>
          </a:p>
        </p:txBody>
      </p:sp>
      <p:sp>
        <p:nvSpPr>
          <p:cNvPr id="5" name="Rectangle 4"/>
          <p:cNvSpPr/>
          <p:nvPr/>
        </p:nvSpPr>
        <p:spPr>
          <a:xfrm>
            <a:off x="731520" y="2468880"/>
            <a:ext cx="33832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800" b="1">
                <a:solidFill>
                  <a:srgbClr val="3B82F6"/>
                </a:solidFill>
                <a:latin typeface="Arial"/>
              </a:defRPr>
            </a:pPr>
            <a:r>
              <a:t>Fragmentation</a:t>
            </a:r>
          </a:p>
          <a:p>
            <a:br/>
            <a:r>
              <a:t>Existing tools for data acquisition, preprocessing, feature engineering, and model training operate in silos, requiring manual integration and extensive coding.</a:t>
            </a:r>
          </a:p>
        </p:txBody>
      </p:sp>
      <p:sp>
        <p:nvSpPr>
          <p:cNvPr id="6" name="Rectangle 5"/>
          <p:cNvSpPr/>
          <p:nvPr/>
        </p:nvSpPr>
        <p:spPr>
          <a:xfrm>
            <a:off x="4389120" y="2468880"/>
            <a:ext cx="33832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800" b="1">
                <a:solidFill>
                  <a:srgbClr val="3B82F6"/>
                </a:solidFill>
                <a:latin typeface="Arial"/>
              </a:defRPr>
            </a:pPr>
            <a:r>
              <a:t>Technical Barrier</a:t>
            </a:r>
          </a:p>
          <a:p>
            <a:br/>
            <a:r>
              <a:t>Leveraging powerful techniques like robust web scraping or Deep Learning for NLP remains inaccessible to users without deep programming expertise.</a:t>
            </a:r>
          </a:p>
        </p:txBody>
      </p:sp>
      <p:sp>
        <p:nvSpPr>
          <p:cNvPr id="7" name="Rectangle 6"/>
          <p:cNvSpPr/>
          <p:nvPr/>
        </p:nvSpPr>
        <p:spPr>
          <a:xfrm>
            <a:off x="8046720" y="2468880"/>
            <a:ext cx="33832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800" b="1">
                <a:solidFill>
                  <a:srgbClr val="3B82F6"/>
                </a:solidFill>
                <a:latin typeface="Arial"/>
              </a:defRPr>
            </a:pPr>
            <a:r>
              <a:t>Lack of Reproducibility</a:t>
            </a:r>
          </a:p>
          <a:p>
            <a:br/>
            <a:r>
              <a:t>Ensuring that an entire ML pipeline, from data source to final model, can be reliably re-executed and verified is a persistent and complex challenge.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CORE TARGET</a:t>
            </a:r>
          </a:p>
        </p:txBody>
      </p:sp>
      <p:sp>
        <p:nvSpPr>
          <p:cNvPr id="3" name="TextBox 2"/>
          <p:cNvSpPr txBox="1"/>
          <p:nvPr/>
        </p:nvSpPr>
        <p:spPr>
          <a:xfrm>
            <a:off x="731520" y="640080"/>
            <a:ext cx="10698480" cy="731520"/>
          </a:xfrm>
          <a:prstGeom prst="rect">
            <a:avLst/>
          </a:prstGeom>
          <a:noFill/>
        </p:spPr>
        <p:txBody>
          <a:bodyPr wrap="square">
            <a:spAutoFit/>
          </a:bodyPr>
          <a:lstStyle/>
          <a:p>
            <a:pPr>
              <a:defRPr sz="3200" b="1">
                <a:solidFill>
                  <a:srgbClr val="F4F4F5"/>
                </a:solidFill>
                <a:latin typeface="Arial"/>
              </a:defRPr>
            </a:pPr>
            <a:r>
              <a:t>Aim: Unifying Data Acquisition &amp; ML</a:t>
            </a:r>
          </a:p>
        </p:txBody>
      </p:sp>
      <p:sp>
        <p:nvSpPr>
          <p:cNvPr id="4" name="Rectangle 3"/>
          <p:cNvSpPr/>
          <p:nvPr/>
        </p:nvSpPr>
        <p:spPr>
          <a:xfrm>
            <a:off x="731520" y="1463040"/>
            <a:ext cx="10698480" cy="118872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defRPr sz="1400">
                <a:solidFill>
                  <a:srgbClr val="F4F4F5"/>
                </a:solidFill>
                <a:latin typeface="Arial"/>
              </a:defRPr>
            </a:pPr>
            <a:r>
              <a:t>This project aims to design, develop, and evaluate a unified, user-friendly Automated Data Acquisition and Machine Learning Model Generation System. By abstracting away technical complexities, the system empowers domain experts to efficiently leverage diverse data sources for robust, reproducible AI model development.</a:t>
            </a:r>
          </a:p>
        </p:txBody>
      </p:sp>
      <p:sp>
        <p:nvSpPr>
          <p:cNvPr id="5" name="Rectangle 4"/>
          <p:cNvSpPr/>
          <p:nvPr/>
        </p:nvSpPr>
        <p:spPr>
          <a:xfrm>
            <a:off x="731520" y="2926080"/>
            <a:ext cx="5257800" cy="15544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defRPr sz="1600" b="1">
                <a:solidFill>
                  <a:srgbClr val="3B82F6"/>
                </a:solidFill>
                <a:latin typeface="Arial"/>
              </a:defRPr>
            </a:pPr>
            <a:r>
              <a:t>01. Automate ML Lifecycle</a:t>
            </a:r>
          </a:p>
          <a:p>
            <a:pPr>
              <a:defRPr sz="1200">
                <a:solidFill>
                  <a:srgbClr val="A1A1AA"/>
                </a:solidFill>
                <a:latin typeface="Arial"/>
              </a:defRPr>
            </a:pPr>
            <a:r>
              <a:t>Automate core aspects of the machine learning lifecycle for selected supervised learning models and sentiment analysis, from data acquisition to model deployment.</a:t>
            </a:r>
          </a:p>
        </p:txBody>
      </p:sp>
      <p:sp>
        <p:nvSpPr>
          <p:cNvPr id="6" name="Rectangle 5"/>
          <p:cNvSpPr/>
          <p:nvPr/>
        </p:nvSpPr>
        <p:spPr>
          <a:xfrm>
            <a:off x="6172200" y="2926080"/>
            <a:ext cx="5257800" cy="15544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defRPr sz="1600" b="1">
                <a:solidFill>
                  <a:srgbClr val="3B82F6"/>
                </a:solidFill>
                <a:latin typeface="Arial"/>
              </a:defRPr>
            </a:pPr>
            <a:r>
              <a:t>02. Adaptive Preprocessing</a:t>
            </a:r>
          </a:p>
          <a:p>
            <a:pPr>
              <a:defRPr sz="1200">
                <a:solidFill>
                  <a:srgbClr val="A1A1AA"/>
                </a:solidFill>
                <a:latin typeface="Arial"/>
              </a:defRPr>
            </a:pPr>
            <a:r>
              <a:t>Provide adaptive data preprocessing and sophisticated text feature engineering to effectively transform diverse, real-world data into high-quality features suitable for predictive modeling.</a:t>
            </a:r>
          </a:p>
        </p:txBody>
      </p:sp>
      <p:sp>
        <p:nvSpPr>
          <p:cNvPr id="7" name="Rectangle 6"/>
          <p:cNvSpPr/>
          <p:nvPr/>
        </p:nvSpPr>
        <p:spPr>
          <a:xfrm>
            <a:off x="731520" y="4709160"/>
            <a:ext cx="5257800" cy="15544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defRPr sz="1600" b="1">
                <a:solidFill>
                  <a:srgbClr val="3B82F6"/>
                </a:solidFill>
                <a:latin typeface="Arial"/>
              </a:defRPr>
            </a:pPr>
            <a:r>
              <a:t>03. Robust Ingestion Capabilities</a:t>
            </a:r>
          </a:p>
          <a:p>
            <a:pPr>
              <a:defRPr sz="1200">
                <a:solidFill>
                  <a:srgbClr val="A1A1AA"/>
                </a:solidFill>
                <a:latin typeface="Arial"/>
              </a:defRPr>
            </a:pPr>
            <a:r>
              <a:t>Integrate robust dual-source data ingestion capabilities, supporting both structured file uploads and advanced hybrid web scraping.</a:t>
            </a:r>
          </a:p>
        </p:txBody>
      </p:sp>
      <p:sp>
        <p:nvSpPr>
          <p:cNvPr id="8" name="Rectangle 7"/>
          <p:cNvSpPr/>
          <p:nvPr/>
        </p:nvSpPr>
        <p:spPr>
          <a:xfrm>
            <a:off x="6172200" y="4709160"/>
            <a:ext cx="5257800" cy="15544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defRPr sz="1600" b="1">
                <a:solidFill>
                  <a:srgbClr val="3B82F6"/>
                </a:solidFill>
                <a:latin typeface="Arial"/>
              </a:defRPr>
            </a:pPr>
            <a:r>
              <a:t>04. Workflow Persistence</a:t>
            </a:r>
          </a:p>
          <a:p>
            <a:pPr>
              <a:defRPr sz="1200">
                <a:solidFill>
                  <a:srgbClr val="A1A1AA"/>
                </a:solidFill>
                <a:latin typeface="Arial"/>
              </a:defRPr>
            </a:pPr>
            <a:r>
              <a:t>Ensure comprehensive Workflow Persistence, guaranteeing complete reproducibility of the entire data-to-model pipeline for reliable and verifiable 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EXECUTION ROADMAP</a:t>
            </a:r>
          </a:p>
        </p:txBody>
      </p:sp>
      <p:sp>
        <p:nvSpPr>
          <p:cNvPr id="3" name="TextBox 2"/>
          <p:cNvSpPr txBox="1"/>
          <p:nvPr/>
        </p:nvSpPr>
        <p:spPr>
          <a:xfrm>
            <a:off x="731520" y="640080"/>
            <a:ext cx="10698480" cy="731520"/>
          </a:xfrm>
          <a:prstGeom prst="rect">
            <a:avLst/>
          </a:prstGeom>
          <a:noFill/>
        </p:spPr>
        <p:txBody>
          <a:bodyPr wrap="square">
            <a:spAutoFit/>
          </a:bodyPr>
          <a:lstStyle/>
          <a:p>
            <a:pPr>
              <a:defRPr sz="3200" b="1">
                <a:solidFill>
                  <a:srgbClr val="F4F4F5"/>
                </a:solidFill>
                <a:latin typeface="Arial"/>
              </a:defRPr>
            </a:pPr>
            <a:r>
              <a:t>Objectives</a:t>
            </a:r>
          </a:p>
        </p:txBody>
      </p:sp>
      <p:sp>
        <p:nvSpPr>
          <p:cNvPr id="4" name="Rectangle 3"/>
          <p:cNvSpPr/>
          <p:nvPr/>
        </p:nvSpPr>
        <p:spPr>
          <a:xfrm>
            <a:off x="731520" y="1463040"/>
            <a:ext cx="10698480" cy="6400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F4F4F5"/>
                </a:solidFill>
                <a:latin typeface="Arial"/>
              </a:defRPr>
            </a:pPr>
            <a:r>
              <a:t>1.  Develop a Hybrid Data Ingestion Engine (Files + Scrapy/Playwright).</a:t>
            </a:r>
          </a:p>
        </p:txBody>
      </p:sp>
      <p:sp>
        <p:nvSpPr>
          <p:cNvPr id="5" name="Rectangle 4"/>
          <p:cNvSpPr/>
          <p:nvPr/>
        </p:nvSpPr>
        <p:spPr>
          <a:xfrm>
            <a:off x="731520" y="2286000"/>
            <a:ext cx="10698480" cy="6400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F4F4F5"/>
                </a:solidFill>
                <a:latin typeface="Arial"/>
              </a:defRPr>
            </a:pPr>
            <a:r>
              <a:rPr dirty="0"/>
              <a:t>2.  Implement an Interactive Schema Mapping Interface with real-time validation.</a:t>
            </a:r>
          </a:p>
        </p:txBody>
      </p:sp>
      <p:sp>
        <p:nvSpPr>
          <p:cNvPr id="6" name="Rectangle 5"/>
          <p:cNvSpPr/>
          <p:nvPr/>
        </p:nvSpPr>
        <p:spPr>
          <a:xfrm>
            <a:off x="731520" y="3108960"/>
            <a:ext cx="10698480" cy="6400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F4F4F5"/>
                </a:solidFill>
                <a:latin typeface="Arial"/>
              </a:defRPr>
            </a:pPr>
            <a:r>
              <a:t>3.  Build an Adaptive Preprocessing &amp; Feature Engineering Pipeline (Auto-cleaning + TF-IDF).</a:t>
            </a:r>
          </a:p>
        </p:txBody>
      </p:sp>
      <p:sp>
        <p:nvSpPr>
          <p:cNvPr id="7" name="Rectangle 6"/>
          <p:cNvSpPr/>
          <p:nvPr/>
        </p:nvSpPr>
        <p:spPr>
          <a:xfrm>
            <a:off x="731520" y="3931920"/>
            <a:ext cx="10698480" cy="6400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F4F4F5"/>
                </a:solidFill>
                <a:latin typeface="Arial"/>
              </a:defRPr>
            </a:pPr>
            <a:r>
              <a:t>4.  Integrate an Automated &amp; Customizable ML Core (AutoML + Hyperparameter tuning).</a:t>
            </a:r>
          </a:p>
        </p:txBody>
      </p:sp>
      <p:sp>
        <p:nvSpPr>
          <p:cNvPr id="8" name="Rectangle 7"/>
          <p:cNvSpPr/>
          <p:nvPr/>
        </p:nvSpPr>
        <p:spPr>
          <a:xfrm>
            <a:off x="731520" y="4754880"/>
            <a:ext cx="10698480" cy="6400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F4F4F5"/>
                </a:solidFill>
                <a:latin typeface="Arial"/>
              </a:defRPr>
            </a:pPr>
            <a:r>
              <a:t>5.  Develop a Model Evaluation Dashboard (e.g. RMSE, Confusion Matrix, Accuracy).</a:t>
            </a:r>
          </a:p>
        </p:txBody>
      </p:sp>
      <p:sp>
        <p:nvSpPr>
          <p:cNvPr id="9" name="Rectangle 8"/>
          <p:cNvSpPr/>
          <p:nvPr/>
        </p:nvSpPr>
        <p:spPr>
          <a:xfrm>
            <a:off x="731520" y="5577840"/>
            <a:ext cx="10698480" cy="64008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F4F4F5"/>
                </a:solidFill>
                <a:latin typeface="Arial"/>
              </a:defRPr>
            </a:pPr>
            <a:r>
              <a:t>6.  Implement Workflow Persistence for one-click retraining and reproducibility.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TECHNICAL DESIGN</a:t>
            </a:r>
          </a:p>
        </p:txBody>
      </p:sp>
      <p:sp>
        <p:nvSpPr>
          <p:cNvPr id="3" name="TextBox 2"/>
          <p:cNvSpPr txBox="1"/>
          <p:nvPr/>
        </p:nvSpPr>
        <p:spPr>
          <a:xfrm>
            <a:off x="731520" y="640080"/>
            <a:ext cx="10698480" cy="731520"/>
          </a:xfrm>
          <a:prstGeom prst="rect">
            <a:avLst/>
          </a:prstGeom>
          <a:noFill/>
        </p:spPr>
        <p:txBody>
          <a:bodyPr wrap="square">
            <a:spAutoFit/>
          </a:bodyPr>
          <a:lstStyle/>
          <a:p>
            <a:pPr>
              <a:defRPr sz="3200" b="1">
                <a:solidFill>
                  <a:srgbClr val="F4F4F5"/>
                </a:solidFill>
                <a:latin typeface="Arial"/>
              </a:defRPr>
            </a:pPr>
            <a:r>
              <a:t>System Architecture Flow</a:t>
            </a:r>
          </a:p>
        </p:txBody>
      </p:sp>
      <p:sp>
        <p:nvSpPr>
          <p:cNvPr id="4" name="TextBox 3"/>
          <p:cNvSpPr txBox="1"/>
          <p:nvPr/>
        </p:nvSpPr>
        <p:spPr>
          <a:xfrm>
            <a:off x="731520" y="1463040"/>
            <a:ext cx="10698480" cy="548640"/>
          </a:xfrm>
          <a:prstGeom prst="rect">
            <a:avLst/>
          </a:prstGeom>
          <a:noFill/>
        </p:spPr>
        <p:txBody>
          <a:bodyPr wrap="square">
            <a:spAutoFit/>
          </a:bodyPr>
          <a:lstStyle/>
          <a:p>
            <a:pPr>
              <a:defRPr sz="1600">
                <a:solidFill>
                  <a:srgbClr val="A1A1AA"/>
                </a:solidFill>
                <a:latin typeface="Arial"/>
              </a:defRPr>
            </a:pPr>
            <a:r>
              <a:t>End-to-end data flow and architectural synchronization of components:</a:t>
            </a:r>
          </a:p>
        </p:txBody>
      </p:sp>
      <p:sp>
        <p:nvSpPr>
          <p:cNvPr id="5" name="Rectangle 4"/>
          <p:cNvSpPr/>
          <p:nvPr/>
        </p:nvSpPr>
        <p:spPr>
          <a:xfrm>
            <a:off x="731520" y="2194560"/>
            <a:ext cx="24688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2000" b="1">
                <a:solidFill>
                  <a:srgbClr val="3B82F6"/>
                </a:solidFill>
                <a:latin typeface="Arial"/>
              </a:defRPr>
            </a:pPr>
            <a:r>
              <a:t>01</a:t>
            </a:r>
          </a:p>
          <a:p>
            <a:br/>
            <a:r>
              <a:t>Chrome Extension</a:t>
            </a:r>
          </a:p>
          <a:p>
            <a:br/>
            <a:r>
              <a:t>Interactive DOM selector picker &amp; AI validation</a:t>
            </a:r>
          </a:p>
        </p:txBody>
      </p:sp>
      <p:sp>
        <p:nvSpPr>
          <p:cNvPr id="6" name="Right Arrow 5"/>
          <p:cNvSpPr/>
          <p:nvPr/>
        </p:nvSpPr>
        <p:spPr>
          <a:xfrm>
            <a:off x="3246120" y="3840480"/>
            <a:ext cx="182880" cy="365760"/>
          </a:xfrm>
          <a:prstGeom prst="rightArrow">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0" y="2194560"/>
            <a:ext cx="24688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2000" b="1">
                <a:solidFill>
                  <a:srgbClr val="3B82F6"/>
                </a:solidFill>
                <a:latin typeface="Arial"/>
              </a:defRPr>
            </a:pPr>
            <a:r>
              <a:t>02</a:t>
            </a:r>
          </a:p>
          <a:p>
            <a:br/>
            <a:r>
              <a:t>Scrapy / Playwright</a:t>
            </a:r>
          </a:p>
          <a:p>
            <a:br/>
            <a:r>
              <a:t>Routed extraction loops &amp; anti-bot WAF bypass</a:t>
            </a:r>
          </a:p>
        </p:txBody>
      </p:sp>
      <p:sp>
        <p:nvSpPr>
          <p:cNvPr id="8" name="Right Arrow 7"/>
          <p:cNvSpPr/>
          <p:nvPr/>
        </p:nvSpPr>
        <p:spPr>
          <a:xfrm>
            <a:off x="5989320" y="3840480"/>
            <a:ext cx="182880" cy="365760"/>
          </a:xfrm>
          <a:prstGeom prst="rightArrow">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2194560"/>
            <a:ext cx="24688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2000" b="1">
                <a:solidFill>
                  <a:srgbClr val="3B82F6"/>
                </a:solidFill>
                <a:latin typeface="Arial"/>
              </a:defRPr>
            </a:pPr>
            <a:r>
              <a:t>03</a:t>
            </a:r>
          </a:p>
          <a:p>
            <a:br/>
            <a:r>
              <a:t>FastAPI ETL Engine</a:t>
            </a:r>
          </a:p>
          <a:p>
            <a:br/>
            <a:r>
              <a:t>Deduplication, numeric parsing, &amp; text engineering</a:t>
            </a:r>
          </a:p>
        </p:txBody>
      </p:sp>
      <p:sp>
        <p:nvSpPr>
          <p:cNvPr id="10" name="Right Arrow 9"/>
          <p:cNvSpPr/>
          <p:nvPr/>
        </p:nvSpPr>
        <p:spPr>
          <a:xfrm>
            <a:off x="8732520" y="3840480"/>
            <a:ext cx="182880" cy="365760"/>
          </a:xfrm>
          <a:prstGeom prst="rightArrow">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961120" y="2194560"/>
            <a:ext cx="2468880" cy="3657600"/>
          </a:xfrm>
          <a:prstGeom prst="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2000" b="1">
                <a:solidFill>
                  <a:srgbClr val="3B82F6"/>
                </a:solidFill>
                <a:latin typeface="Arial"/>
              </a:defRPr>
            </a:pPr>
            <a:r>
              <a:t>04</a:t>
            </a:r>
          </a:p>
          <a:p>
            <a:br/>
            <a:r>
              <a:t>ML Registry &amp; APIs</a:t>
            </a:r>
          </a:p>
          <a:p>
            <a:br/>
            <a:r>
              <a:t>Auto-tuning models, scoring, &amp; prediction API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599</Words>
  <Application>Microsoft Office PowerPoint</Application>
  <PresentationFormat>Custom</PresentationFormat>
  <Paragraphs>52</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Benson Musonda</cp:lastModifiedBy>
  <cp:revision>2</cp:revision>
  <dcterms:created xsi:type="dcterms:W3CDTF">2013-01-27T09:14:16Z</dcterms:created>
  <dcterms:modified xsi:type="dcterms:W3CDTF">2026-05-27T18:13:57Z</dcterms:modified>
  <cp:category/>
</cp:coreProperties>
</file>